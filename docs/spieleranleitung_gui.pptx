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987024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0246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Mosaic-AI</a:t>
            </a:r>
          </a:p>
          <a:p>
            <a:r>
              <a:rPr sz="2400">
                <a:solidFill>
                  <a:srgbClr val="C9D6E8"/>
                </a:solidFill>
              </a:rPr>
              <a:t>Spieleranleitung zur Server-Game-Oberflaeche</a:t>
            </a:r>
          </a:p>
          <a:p>
            <a:pPr>
              <a:spcBef>
                <a:spcPts val="1800"/>
              </a:spcBef>
            </a:pPr>
            <a:r>
              <a:rPr sz="1500" i="1">
                <a:solidFill>
                  <a:srgbClr val="9AA9C0"/>
                </a:solidFill>
              </a:rPr>
              <a:t>Wo klicke ich hin? -- Bildschirmbereiche, Buttons und Anzeigen erklaert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auptansi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21406"/>
          </a:xfrm>
          <a:prstGeom prst="rect">
            <a:avLst/>
          </a:prstGeom>
        </p:spPr>
      </p:pic>
      <p:sp>
        <p:nvSpPr>
          <p:cNvPr id="3" name="Marker 1"/>
          <p:cNvSpPr/>
          <p:nvPr/>
        </p:nvSpPr>
        <p:spPr>
          <a:xfrm>
            <a:off x="9306328" y="8127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Marker 2"/>
          <p:cNvSpPr/>
          <p:nvPr/>
        </p:nvSpPr>
        <p:spPr>
          <a:xfrm>
            <a:off x="10094724" y="8127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Marker 3"/>
          <p:cNvSpPr/>
          <p:nvPr/>
        </p:nvSpPr>
        <p:spPr>
          <a:xfrm>
            <a:off x="10980654" y="8127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Marker 4"/>
          <p:cNvSpPr/>
          <p:nvPr/>
        </p:nvSpPr>
        <p:spPr>
          <a:xfrm>
            <a:off x="11720283" y="81278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Marker 6"/>
          <p:cNvSpPr/>
          <p:nvPr/>
        </p:nvSpPr>
        <p:spPr>
          <a:xfrm>
            <a:off x="7729535" y="41451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Marker 7"/>
          <p:cNvSpPr/>
          <p:nvPr/>
        </p:nvSpPr>
        <p:spPr>
          <a:xfrm>
            <a:off x="4063898" y="109725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Marker 8"/>
          <p:cNvSpPr/>
          <p:nvPr/>
        </p:nvSpPr>
        <p:spPr>
          <a:xfrm>
            <a:off x="3925726" y="151989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" name="Marker 9"/>
          <p:cNvSpPr/>
          <p:nvPr/>
        </p:nvSpPr>
        <p:spPr>
          <a:xfrm>
            <a:off x="5470007" y="156866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1" name="Marker 10"/>
          <p:cNvSpPr/>
          <p:nvPr/>
        </p:nvSpPr>
        <p:spPr>
          <a:xfrm>
            <a:off x="7030544" y="104035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2" name="Marker 11"/>
          <p:cNvSpPr/>
          <p:nvPr/>
        </p:nvSpPr>
        <p:spPr>
          <a:xfrm>
            <a:off x="9021854" y="39826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" name="Marker 12"/>
          <p:cNvSpPr/>
          <p:nvPr/>
        </p:nvSpPr>
        <p:spPr>
          <a:xfrm>
            <a:off x="11809689" y="41451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4" name="Marker 13"/>
          <p:cNvSpPr/>
          <p:nvPr/>
        </p:nvSpPr>
        <p:spPr>
          <a:xfrm>
            <a:off x="10509241" y="67460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5" name="Marker 14"/>
          <p:cNvSpPr/>
          <p:nvPr/>
        </p:nvSpPr>
        <p:spPr>
          <a:xfrm>
            <a:off x="11078187" y="116227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6" name="Marker 15"/>
          <p:cNvSpPr/>
          <p:nvPr/>
        </p:nvSpPr>
        <p:spPr>
          <a:xfrm>
            <a:off x="10427963" y="222701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7" name="Marker 16"/>
          <p:cNvSpPr/>
          <p:nvPr/>
        </p:nvSpPr>
        <p:spPr>
          <a:xfrm>
            <a:off x="10427963" y="298290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8" name="Bereich 5"/>
          <p:cNvSpPr/>
          <p:nvPr/>
        </p:nvSpPr>
        <p:spPr>
          <a:xfrm>
            <a:off x="48766" y="422645"/>
            <a:ext cx="8005879" cy="2235144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arker 5"/>
          <p:cNvSpPr/>
          <p:nvPr/>
        </p:nvSpPr>
        <p:spPr>
          <a:xfrm>
            <a:off x="-73150" y="300729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1) Hauptansicht -- Drafting-Phase (Runde 3)</a:t>
            </a:r>
          </a:p>
          <a:p>
            <a:r>
              <a:rPr sz="1100">
                <a:solidFill>
                  <a:srgbClr val="606060"/>
                </a:solidFill>
              </a:rPr>
              <a:t>Screenshot einer laufenden Partie (eigene Testinstanz). Marker sind frei verschiebbar.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7721406"/>
            <a:ext cx="12191695" cy="214884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7831134"/>
            <a:ext cx="5638647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  </a:t>
            </a:r>
            <a:r>
              <a:rPr sz="1100">
                <a:solidFill>
                  <a:srgbClr val="1A1A1A"/>
                </a:solidFill>
              </a:rPr>
              <a:t>Neues Spiel starten -- Gegner (KI/Mensch), Staerke (Simulationen), Startspieler und Seed einstellen.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2  </a:t>
            </a:r>
            <a:r>
              <a:rPr sz="1100">
                <a:solidFill>
                  <a:srgbClr val="1A1A1A"/>
                </a:solidFill>
              </a:rPr>
              <a:t>Aktive Ziele -- zeigt die 3 gewaehlten Wertungsplatten dieser Partie noch einmal gross an.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3  </a:t>
            </a:r>
            <a:r>
              <a:rPr sz="1100">
                <a:solidFill>
                  <a:srgbClr val="1A1A1A"/>
                </a:solidFill>
              </a:rPr>
              <a:t>KI-Debugger -- Analysefenster der Kuenstlichen Intelligenz (fuer Fortgeschrittene, kann ausgeblendet werden).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4  </a:t>
            </a:r>
            <a:r>
              <a:rPr sz="1100">
                <a:solidFill>
                  <a:srgbClr val="1A1A1A"/>
                </a:solidFill>
              </a:rPr>
              <a:t>Spiel-Log der aktuellen Partie als Datei herunterladen.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5  </a:t>
            </a:r>
            <a:r>
              <a:rPr sz="1100">
                <a:solidFill>
                  <a:srgbClr val="1A1A1A"/>
                </a:solidFill>
              </a:rPr>
              <a:t>Aktiver Spieler -- blauer Rahmen zeigt, wer gerade am Zug ist.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6  </a:t>
            </a:r>
            <a:r>
              <a:rPr sz="1100">
                <a:solidFill>
                  <a:srgbClr val="1A1A1A"/>
                </a:solidFill>
              </a:rPr>
              <a:t>Punktestand -- in Klammern die fuer diese Runde geschaetzten Zusatzpunkte.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7  </a:t>
            </a:r>
            <a:r>
              <a:rPr sz="1100">
                <a:solidFill>
                  <a:srgbClr val="1A1A1A"/>
                </a:solidFill>
              </a:rPr>
              <a:t>Strafleiste („Zerbrochene Fliesen“) -- ueberzaehlige Fliesen landen hier: -1 bis -4 Punkte am Rundenende.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8  </a:t>
            </a:r>
            <a:r>
              <a:rPr sz="1100">
                <a:solidFill>
                  <a:srgbClr val="1A1A1A"/>
                </a:solidFill>
              </a:rPr>
              <a:t>Bonuschips-Kasten -- gesammelte Bonusplaettchen. Leuchtet farbig und wird klickbar, sobald man damit die faellige Musterreihe vervollstaendigen kann.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7831134"/>
            <a:ext cx="5638647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9  </a:t>
            </a:r>
            <a:r>
              <a:rPr sz="1100">
                <a:solidFill>
                  <a:srgbClr val="1A1A1A"/>
                </a:solidFill>
              </a:rPr>
              <a:t>Musterreihen (1-6) -- hier genommene Fliesen ablegen. Kapazitaet waechst von 1 (oben) bis 6 (unten); volle Reihen wandern am Rundenende auf die Kuppel.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10  </a:t>
            </a:r>
            <a:r>
              <a:rPr sz="1100">
                <a:solidFill>
                  <a:srgbClr val="1A1A1A"/>
                </a:solidFill>
              </a:rPr>
              <a:t>Kuppel-Raster -- Ziel der vollen Musterreihen. „+“ markiert freie, noch unbelegte Felder.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11  </a:t>
            </a:r>
            <a:r>
              <a:rPr sz="1100">
                <a:solidFill>
                  <a:srgbClr val="1A1A1A"/>
                </a:solidFill>
              </a:rPr>
              <a:t>Fabriken -- hier in Phase 1 Fliesen nehmen (Sonnenseite anklicken). Schloss-Symbol = Bonusplaettchen der Fabrik noch verdeckt.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12  </a:t>
            </a:r>
            <a:r>
              <a:rPr sz="1100">
                <a:solidFill>
                  <a:srgbClr val="1A1A1A"/>
                </a:solidFill>
              </a:rPr>
              <a:t>Phasen-Anzeige -- zeigt aktuelle Phase (Drafting/Tiling) und wer gerade am Zug ist.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13  </a:t>
            </a:r>
            <a:r>
              <a:rPr sz="1100">
                <a:solidFill>
                  <a:srgbClr val="1A1A1A"/>
                </a:solidFill>
              </a:rPr>
              <a:t>Beutel- und Turm-Zaehler -- Fliesen im Vorrat bzw. im Abwurf-Turm.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14  </a:t>
            </a:r>
            <a:r>
              <a:rPr sz="1100">
                <a:solidFill>
                  <a:srgbClr val="1A1A1A"/>
                </a:solidFill>
              </a:rPr>
              <a:t>Auslage -- freie Kuppelplatten zum Nehmen (Aktion A); darunter „Ziehen (-1 Pkt/Karte)“ fuer eine verdeckte Platte vom Stapel.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15  </a:t>
            </a:r>
            <a:r>
              <a:rPr sz="1100">
                <a:solidFill>
                  <a:srgbClr val="1A1A1A"/>
                </a:solidFill>
              </a:rPr>
              <a:t>Log-Dropdown -- zum Aufklappen anklicken, zeigt den bisherigen Spielverlauf.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16  </a:t>
            </a:r>
            <a:r>
              <a:rPr sz="1100">
                <a:solidFill>
                  <a:srgbClr val="1A1A1A"/>
                </a:solidFill>
              </a:rPr>
              <a:t>„Gueltige Zuege“-Dropdown -- zum Aufklappen anklicken, listet alle aktuell erlaubten Aktionen auf.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iling_bonus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21406"/>
          </a:xfrm>
          <a:prstGeom prst="rect">
            <a:avLst/>
          </a:prstGeom>
        </p:spPr>
      </p:pic>
      <p:sp>
        <p:nvSpPr>
          <p:cNvPr id="3" name="Marker 1"/>
          <p:cNvSpPr/>
          <p:nvPr/>
        </p:nvSpPr>
        <p:spPr>
          <a:xfrm>
            <a:off x="6217765" y="1609304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Marker 2"/>
          <p:cNvSpPr/>
          <p:nvPr/>
        </p:nvSpPr>
        <p:spPr>
          <a:xfrm>
            <a:off x="3958237" y="1397981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Marker 3"/>
          <p:cNvSpPr/>
          <p:nvPr/>
        </p:nvSpPr>
        <p:spPr>
          <a:xfrm>
            <a:off x="3958237" y="1796244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Marker 4"/>
          <p:cNvSpPr/>
          <p:nvPr/>
        </p:nvSpPr>
        <p:spPr>
          <a:xfrm>
            <a:off x="5445624" y="1601176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Marker 6"/>
          <p:cNvSpPr/>
          <p:nvPr/>
        </p:nvSpPr>
        <p:spPr>
          <a:xfrm>
            <a:off x="11825945" y="430774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Marker 7"/>
          <p:cNvSpPr/>
          <p:nvPr/>
        </p:nvSpPr>
        <p:spPr>
          <a:xfrm>
            <a:off x="11825945" y="1341087"/>
            <a:ext cx="243833" cy="243833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2) Tiling-Phase -- Bonuschips einsetzen oder Reihe ueberspringen</a:t>
            </a:r>
          </a:p>
          <a:p>
            <a:r>
              <a:rPr sz="1100">
                <a:solidFill>
                  <a:srgbClr val="606060"/>
                </a:solidFill>
              </a:rPr>
              <a:t>Gleiche Testinstanz, spaeterer Spielstand (Runde 2, Phase 2). Zeigt die Chip-/Skip-Bedienelemente.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721406"/>
            <a:ext cx="12191695" cy="214884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7831134"/>
            <a:ext cx="5638647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1  </a:t>
            </a:r>
            <a:r>
              <a:rPr sz="1100">
                <a:solidFill>
                  <a:srgbClr val="1A1A1A"/>
                </a:solidFill>
              </a:rPr>
              <a:t>Blauer Punkt -- markiert die als naechstes faellige Reihe (oben-nach-unten-Regel).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2  </a:t>
            </a:r>
            <a:r>
              <a:rPr sz="1100">
                <a:solidFill>
                  <a:srgbClr val="1A1A1A"/>
                </a:solidFill>
              </a:rPr>
              <a:t>Bonuschips-Kasten (jetzt farbig hervorgehoben) -- anklicken oeffnet den Dialog zum Einsetzen der Chips fuer die faellige Reihe: 2 gleichfarbige ODER 3 beliebige Chips = 1 fehlende Fliese.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3  </a:t>
            </a:r>
            <a:r>
              <a:rPr sz="1100">
                <a:solidFill>
                  <a:srgbClr val="1A1A1A"/>
                </a:solidFill>
              </a:rPr>
              <a:t>„Reihe X fuer Bonuschips ignorieren“ -- ueberspringt diese nur per Chips komplettierbare Reihe bewusst, um z.B. erst eine spaetere zu bedienen. Ueber den „↺ zuruecksetzen“-Link wieder aufhebbar.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7831134"/>
            <a:ext cx="5638647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4  </a:t>
            </a:r>
            <a:r>
              <a:rPr sz="1100">
                <a:solidFill>
                  <a:srgbClr val="1A1A1A"/>
                </a:solidFill>
              </a:rPr>
              <a:t>Faellige Musterreihe -- gestrichelt umrandet, solange sie auf eine Aktion wartet.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6  </a:t>
            </a:r>
            <a:r>
              <a:rPr sz="1100">
                <a:solidFill>
                  <a:srgbClr val="1A1A1A"/>
                </a:solidFill>
              </a:rPr>
              <a:t>Phasen-Anzeige „Phase 2: Reihe anklicken“ -- Hinweistext erklaert die Chip-Regel noch einmal.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7A0D17"/>
                </a:solidFill>
              </a:rPr>
              <a:t>7  </a:t>
            </a:r>
            <a:r>
              <a:rPr sz="1100">
                <a:solidFill>
                  <a:srgbClr val="1A1A1A"/>
                </a:solidFill>
              </a:rPr>
              <a:t>„Mein Tiling abschliessen“ -- eigene Tiling-Phase beenden; danach ist die KI/der andere Spieler dran.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02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Spielablauf in 5 Schritten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24712"/>
            <a:ext cx="502920" cy="502920"/>
          </a:xfrm>
          <a:prstGeom prst="ellipse">
            <a:avLst/>
          </a:prstGeom>
          <a:solidFill>
            <a:srgbClr val="E8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51560"/>
            <a:ext cx="10545775" cy="169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A0D17"/>
                </a:solidFill>
              </a:rPr>
              <a:t>1. Drafting</a:t>
            </a:r>
          </a:p>
          <a:p>
            <a:r>
              <a:rPr sz="1250">
                <a:solidFill>
                  <a:srgbClr val="1A1A1A"/>
                </a:solidFill>
              </a:rPr>
              <a:t>Abwechselnd Fliesen von einer Fabrik (Sonnen- oder Mondseite) nehmen, eine Kuppelplatte legen oder ein Bonusplaettchen sichern -- bis alle Fabriken leer sind.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15297"/>
            <a:ext cx="502920" cy="502920"/>
          </a:xfrm>
          <a:prstGeom prst="ellipse">
            <a:avLst/>
          </a:prstGeom>
          <a:solidFill>
            <a:srgbClr val="E8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42145"/>
            <a:ext cx="10545775" cy="169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A0D17"/>
                </a:solidFill>
              </a:rPr>
              <a:t>2. Platzieren</a:t>
            </a:r>
          </a:p>
          <a:p>
            <a:r>
              <a:rPr sz="1250">
                <a:solidFill>
                  <a:srgbClr val="1A1A1A"/>
                </a:solidFill>
              </a:rPr>
              <a:t>Genommene Fliesen wandern in EINE Musterreihe (Kapazitaet 1-6). Ueberzaehlige oder freiwillig abgelegte Fliesen fallen auf die Strafleiste.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05882"/>
            <a:ext cx="502920" cy="502920"/>
          </a:xfrm>
          <a:prstGeom prst="ellipse">
            <a:avLst/>
          </a:prstGeom>
          <a:solidFill>
            <a:srgbClr val="E8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432730"/>
            <a:ext cx="10545775" cy="169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A0D17"/>
                </a:solidFill>
              </a:rPr>
              <a:t>3. Bonuschips</a:t>
            </a:r>
          </a:p>
          <a:p>
            <a:r>
              <a:rPr sz="1250">
                <a:solidFill>
                  <a:srgbClr val="1A1A1A"/>
                </a:solidFill>
              </a:rPr>
              <a:t>Volle Musterreihen werden am Rundenende zwingend von oben nach unten abgeraeumt. Unvollstaendige Reihen lassen sich stattdessen mit 2 gleichfarbigen oder 3 beliebigen Bonuschips vervollstaendigen.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6196467"/>
            <a:ext cx="502920" cy="502920"/>
          </a:xfrm>
          <a:prstGeom prst="ellipse">
            <a:avLst/>
          </a:prstGeom>
          <a:solidFill>
            <a:srgbClr val="E8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6123315"/>
            <a:ext cx="10545775" cy="169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A0D17"/>
                </a:solidFill>
              </a:rPr>
              <a:t>4. Kuppeln</a:t>
            </a:r>
          </a:p>
          <a:p>
            <a:r>
              <a:rPr sz="1250">
                <a:solidFill>
                  <a:srgbClr val="1A1A1A"/>
                </a:solidFill>
              </a:rPr>
              <a:t>Von jeder abgeraeumten Reihe wandert genau ein Stein auf ein passendes Feld der Kuppel. Punkte gibt es sofort fuer Nachbarschaften (Linien gleicher Farbe).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7887052"/>
            <a:ext cx="502920" cy="502920"/>
          </a:xfrm>
          <a:prstGeom prst="ellipse">
            <a:avLst/>
          </a:prstGeom>
          <a:solidFill>
            <a:srgbClr val="E8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7813900"/>
            <a:ext cx="10545775" cy="169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A0D17"/>
                </a:solidFill>
              </a:rPr>
              <a:t>5. Wertung</a:t>
            </a:r>
          </a:p>
          <a:p>
            <a:r>
              <a:rPr sz="1250">
                <a:solidFill>
                  <a:srgbClr val="1A1A1A"/>
                </a:solidFill>
              </a:rPr>
              <a:t>Nach 5 Runden zaehlen zusaetzlich 3 gewaehlte Wertungsplatten (z.B. Reihen, Diagonalen, Eckplatten). Hoechste Gesamtpunktzahl gewinnt.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